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A3B4F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2A3B4F"/>
                </a:solidFill>
                <a:latin typeface="+mn-lt"/>
              </a:rPr>
              <a:t>30-day readmission rate (%) by inpatient stays in prior 12 months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30-day readmission rate (%)</c:v>
                </c:pt>
              </c:strCache>
            </c:strRef>
          </c:tx>
          <c:spPr>
            <a:solidFill>
              <a:srgbClr val="6B7C8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55A-4A0D-BCC8-6025EB16E65B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55A-4A0D-BCC8-6025EB16E65B}"/>
              </c:ext>
            </c:extLst>
          </c:dPt>
          <c:dPt>
            <c:idx val="2"/>
            <c:invertIfNegative val="0"/>
            <c:bubble3D val="0"/>
            <c:spPr>
              <a:solidFill>
                <a:srgbClr val="2E8B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55A-4A0D-BCC8-6025EB16E65B}"/>
              </c:ext>
            </c:extLst>
          </c:dPt>
          <c:dPt>
            <c:idx val="3"/>
            <c:invertIfNegative val="0"/>
            <c:bubble3D val="0"/>
            <c:spPr>
              <a:solidFill>
                <a:srgbClr val="2E8B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55A-4A0D-BCC8-6025EB16E65B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1E2B3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8.6</c:v>
                </c:pt>
                <c:pt idx="1">
                  <c:v>13.3</c:v>
                </c:pt>
                <c:pt idx="2">
                  <c:v>17.899999999999999</c:v>
                </c:pt>
                <c:pt idx="3">
                  <c:v>26.4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5A-4A0D-BCC8-6025EB16E65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E2B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A3B4F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2A3B4F"/>
                </a:solidFill>
                <a:latin typeface="+mn-lt"/>
              </a:rPr>
              <a:t>Net value per 10,000 discharges ($ thousands)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Hospital captures 100% of the saving</c:v>
                </c:pt>
              </c:strCache>
            </c:strRef>
          </c:tx>
          <c:spPr>
            <a:solidFill>
              <a:srgbClr val="2E8B5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B3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5% fewer</c:v>
                </c:pt>
                <c:pt idx="1">
                  <c:v>10% fewer</c:v>
                </c:pt>
                <c:pt idx="2">
                  <c:v>20% fewer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-121</c:v>
                </c:pt>
                <c:pt idx="1">
                  <c:v>114</c:v>
                </c:pt>
                <c:pt idx="2">
                  <c:v>583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2E-4424-983B-C7CA21EFCD2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Hospital captures 50% of the saving</c:v>
                </c:pt>
              </c:strCache>
            </c:strRef>
          </c:tx>
          <c:spPr>
            <a:solidFill>
              <a:srgbClr val="6B7C8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B3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5% fewer</c:v>
                </c:pt>
                <c:pt idx="1">
                  <c:v>10% fewer</c:v>
                </c:pt>
                <c:pt idx="2">
                  <c:v>20% fewer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-238</c:v>
                </c:pt>
                <c:pt idx="1">
                  <c:v>-121</c:v>
                </c:pt>
                <c:pt idx="2">
                  <c:v>114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02E-4424-983B-C7CA21EFCD2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E2B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2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B3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E2B3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9434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decision. We are not recommending AI. We found one segment that holds 27.5% of readmissions in 14.2% of discharges, and it can be found with one field already in the record. The ask: approve a 6-month controlled pilot of a rule plus a phone call and follow-up visit. Money is gated on break-even (slide 3). Unit of analysis is the discharge (99,343 eligible), not the patient, because the intervention is triggered at each discharge.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Baseline: 11.4% of 99,343 eligible discharges. Concentration: prior inpatient stays in the past year. 0 stays: 8.6%; 1: 13.3%; 2: 17.9%; 3+: 26.4%. Flag = 2 or more: 14,114 discharges, 3,108 readmissions = 27.5% of all. Three patterns only: diabetes as primary diagnosis, prior ER visit, and a null result (discharge destination and medication change do not separate the group). Pushback prep: the 2017-era paper (Strack 2014) used one encounter per patient to keep observations independent. That is right for regression but it hides repeat users, who are the opportunity. 46% of discharges come from 23% of patients. Repeat patients are not independent, so confidence intervals are somewhat optimistic.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number except the 22.0% rate and the 14.2% share is an assumption, and is labeled as such. Break-even = 250 / (0.2202 x 15,000 x capture) = 7.6% at full capture, 15.1% at half capture. Applied to all discharges the rate is 11.4%, so break-even is 14.6%: targeting roughly halves the effect we need. Who captures the saving: under fee-for-service a readmission is revenue, so avoiding it may cost the hospital money; under risk contracts or when beds are the constraint it saves money. This is the CFO question. The dataset has no cost or revenue, so $15k and $250 are placeholders for Finance and Clinical Ops to replace.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simplest rung that captures the value is Process plus Rules. The flag uses number_inpatient, which is already in the record. The call and the visit are the intervention. Pushback prep: "why not a model?" Because the rule already gets 27.5% of readmissions into 14.2% of discharges, we do not yet know the intervention works, and a model trained on historical readmission labels would not tell us whether a readmission was preventable. We climb only if the pilot works and capacity, not targeting, becomes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 ledger. Fact: the segment numbers, reproducible from the CSV. Assumptions: EHR availability, $15k per readmission, $250 per flagged discharge. Hypotheses: that the program works and that the hospital captures the saving. Sample size: detecting a 15% relative cut from a 22.0% baseline at 80% power and a 5% two-sided test needs about 2,334 flagged discharges per arm; a 10% cut needs about 5,356 per arm, and a 20% cut about 1,286. Data limits: 1999-2008 ICD-9 era, before today's payment rules; readmissions to other systems are invisible, so rates are understated; no hospital identifier so we cannot size by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Assignment: Kaggle Dataset</a:t>
            </a:r>
            <a:endParaRPr lang="en-US" sz="2800" dirty="0"/>
          </a:p>
        </p:txBody>
      </p:sp>
      <p:sp>
        <p:nvSpPr>
          <p:cNvPr id="3" name="Problem card"/>
          <p:cNvSpPr/>
          <p:nvPr/>
        </p:nvSpPr>
        <p:spPr>
          <a:xfrm>
            <a:off x="548640" y="1554480"/>
            <a:ext cx="548640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/>
        </p:spPr>
      </p:sp>
      <p:sp>
        <p:nvSpPr>
          <p:cNvPr id="4" name="Problem label"/>
          <p:cNvSpPr txBox="1"/>
          <p:nvPr/>
        </p:nvSpPr>
        <p:spPr>
          <a:xfrm>
            <a:off x="82296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5" name="Problem text"/>
          <p:cNvSpPr txBox="1"/>
          <p:nvPr/>
        </p:nvSpPr>
        <p:spPr>
          <a:xfrm>
            <a:off x="822960" y="210312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11.4% of eligible diabetes discharges return within 30 days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11,314 of 99,343 discharges. The unit is one discharge, because the action happens at discharge.</a:t>
            </a:r>
            <a:endParaRPr lang="en-US" sz="2000" dirty="0"/>
          </a:p>
        </p:txBody>
      </p:sp>
      <p:sp>
        <p:nvSpPr>
          <p:cNvPr id="6" name="Decision card"/>
          <p:cNvSpPr/>
          <p:nvPr/>
        </p:nvSpPr>
        <p:spPr>
          <a:xfrm>
            <a:off x="6217920" y="1554480"/>
            <a:ext cx="5394960" cy="2423160"/>
          </a:xfrm>
          <a:prstGeom prst="roundRect">
            <a:avLst>
              <a:gd name="adj" fmla="val 3019"/>
            </a:avLst>
          </a:prstGeom>
          <a:solidFill>
            <a:schemeClr val="tx2"/>
          </a:solidFill>
          <a:ln/>
        </p:spPr>
      </p:sp>
      <p:sp>
        <p:nvSpPr>
          <p:cNvPr id="7" name="Decision label"/>
          <p:cNvSpPr txBox="1"/>
          <p:nvPr/>
        </p:nvSpPr>
        <p:spPr>
          <a:xfrm>
            <a:off x="6492240" y="1737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RECOMMENDATION</a:t>
            </a:r>
            <a:endParaRPr lang="en-US" sz="1200" dirty="0"/>
          </a:p>
        </p:txBody>
      </p:sp>
      <p:sp>
        <p:nvSpPr>
          <p:cNvPr id="8" name="Decision text"/>
          <p:cNvSpPr txBox="1"/>
          <p:nvPr/>
        </p:nvSpPr>
        <p:spPr>
          <a:xfrm>
            <a:off x="6492240" y="210312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Flag discharges with 2+ inpatient stays in the prior 12 months (a rule)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Add a 48-hour call and a 7-day follow-up visit (a process)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Run a 6-month controlled pilot; scale only if readmissions fall 8–15% or more (break-even)</a:t>
            </a:r>
            <a:endParaRPr lang="en-US" sz="1600" dirty="0"/>
          </a:p>
        </p:txBody>
      </p:sp>
      <p:sp>
        <p:nvSpPr>
          <p:cNvPr id="9" name="Stat tile 1"/>
          <p:cNvSpPr/>
          <p:nvPr/>
        </p:nvSpPr>
        <p:spPr>
          <a:xfrm>
            <a:off x="548640" y="4206240"/>
            <a:ext cx="356616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/>
        </p:spPr>
      </p:sp>
      <p:sp>
        <p:nvSpPr>
          <p:cNvPr id="10" name="Stat value 1"/>
          <p:cNvSpPr txBox="1"/>
          <p:nvPr/>
        </p:nvSpPr>
        <p:spPr>
          <a:xfrm>
            <a:off x="777240" y="43434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14.2%</a:t>
            </a:r>
            <a:endParaRPr lang="en-US" sz="4400" dirty="0"/>
          </a:p>
        </p:txBody>
      </p:sp>
      <p:sp>
        <p:nvSpPr>
          <p:cNvPr id="11" name="Stat label 1"/>
          <p:cNvSpPr txBox="1"/>
          <p:nvPr/>
        </p:nvSpPr>
        <p:spPr>
          <a:xfrm>
            <a:off x="777240" y="5166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of discharges are repeat inpatients (2+ stays in prior year)</a:t>
            </a:r>
            <a:endParaRPr lang="en-US" sz="1400" dirty="0"/>
          </a:p>
        </p:txBody>
      </p:sp>
      <p:sp>
        <p:nvSpPr>
          <p:cNvPr id="12" name="Stat tile 2"/>
          <p:cNvSpPr/>
          <p:nvPr/>
        </p:nvSpPr>
        <p:spPr>
          <a:xfrm>
            <a:off x="4297680" y="4206240"/>
            <a:ext cx="356616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/>
        </p:spPr>
      </p:sp>
      <p:sp>
        <p:nvSpPr>
          <p:cNvPr id="13" name="Stat value 2"/>
          <p:cNvSpPr txBox="1"/>
          <p:nvPr/>
        </p:nvSpPr>
        <p:spPr>
          <a:xfrm>
            <a:off x="4526280" y="43434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27.5%</a:t>
            </a:r>
            <a:endParaRPr lang="en-US" sz="4400" dirty="0"/>
          </a:p>
        </p:txBody>
      </p:sp>
      <p:sp>
        <p:nvSpPr>
          <p:cNvPr id="14" name="Stat label 2"/>
          <p:cNvSpPr txBox="1"/>
          <p:nvPr/>
        </p:nvSpPr>
        <p:spPr>
          <a:xfrm>
            <a:off x="4526280" y="5166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of all 30-day readmissions come from that group</a:t>
            </a:r>
            <a:endParaRPr lang="en-US" sz="1400" dirty="0"/>
          </a:p>
        </p:txBody>
      </p:sp>
      <p:sp>
        <p:nvSpPr>
          <p:cNvPr id="15" name="Stat tile 3"/>
          <p:cNvSpPr/>
          <p:nvPr/>
        </p:nvSpPr>
        <p:spPr>
          <a:xfrm>
            <a:off x="8046720" y="4206240"/>
            <a:ext cx="356616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/>
        </p:spPr>
      </p:sp>
      <p:sp>
        <p:nvSpPr>
          <p:cNvPr id="16" name="Stat value 3"/>
          <p:cNvSpPr txBox="1"/>
          <p:nvPr/>
        </p:nvSpPr>
        <p:spPr>
          <a:xfrm>
            <a:off x="8275320" y="43434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22.0% vs 9.6%</a:t>
            </a:r>
            <a:endParaRPr lang="en-US" sz="3400" dirty="0"/>
          </a:p>
        </p:txBody>
      </p:sp>
      <p:sp>
        <p:nvSpPr>
          <p:cNvPr id="17" name="Stat label 3"/>
          <p:cNvSpPr txBox="1"/>
          <p:nvPr/>
        </p:nvSpPr>
        <p:spPr>
          <a:xfrm>
            <a:off x="8275320" y="5166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readmission rate: flagged group vs everyone else</a:t>
            </a:r>
            <a:endParaRPr lang="en-US" sz="1400" dirty="0"/>
          </a:p>
        </p:txBody>
      </p:sp>
      <p:sp>
        <p:nvSpPr>
          <p:cNvPr id="18" name="Source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Repeat inpatients are 14% of discharges but 27% of readmissions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554480"/>
          <a:ext cx="56692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Chart caption"/>
          <p:cNvSpPr txBox="1"/>
          <p:nvPr/>
        </p:nvSpPr>
        <p:spPr>
          <a:xfrm>
            <a:off x="548640" y="57150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Share of discharges: 0 stays 66.7% · 1 stay 19.1% · 2 stays 7.3% · 3+ stays 6.9%. All-discharge baseline: 11.4%.</a:t>
            </a:r>
            <a:endParaRPr lang="en-US" sz="1200" dirty="0"/>
          </a:p>
        </p:txBody>
      </p:sp>
      <p:sp>
        <p:nvSpPr>
          <p:cNvPr id="5" name="Pattern card 1"/>
          <p:cNvSpPr/>
          <p:nvPr/>
        </p:nvSpPr>
        <p:spPr>
          <a:xfrm>
            <a:off x="6583680" y="1554480"/>
            <a:ext cx="502920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6" name="Pattern badge 1"/>
          <p:cNvSpPr/>
          <p:nvPr/>
        </p:nvSpPr>
        <p:spPr>
          <a:xfrm>
            <a:off x="6766560" y="17373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attern num 1"/>
          <p:cNvSpPr txBox="1"/>
          <p:nvPr/>
        </p:nvSpPr>
        <p:spPr>
          <a:xfrm>
            <a:off x="67665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Pattern text 1"/>
          <p:cNvSpPr txBox="1"/>
          <p:nvPr/>
        </p:nvSpPr>
        <p:spPr>
          <a:xfrm>
            <a:off x="7406640" y="1664208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Primary diagnosis diabetes: 27.5% vs 21.3%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Flagged discharges with a primary diabetes diagnosis (n = 1,674) vs other flagged discharges.</a:t>
            </a:r>
            <a:endParaRPr lang="en-US" sz="1600" dirty="0"/>
          </a:p>
        </p:txBody>
      </p:sp>
      <p:sp>
        <p:nvSpPr>
          <p:cNvPr id="9" name="Pattern card 2"/>
          <p:cNvSpPr/>
          <p:nvPr/>
        </p:nvSpPr>
        <p:spPr>
          <a:xfrm>
            <a:off x="6583680" y="2971800"/>
            <a:ext cx="502920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0" name="Pattern badge 2"/>
          <p:cNvSpPr/>
          <p:nvPr/>
        </p:nvSpPr>
        <p:spPr>
          <a:xfrm>
            <a:off x="6766560" y="3154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Pattern num 2"/>
          <p:cNvSpPr txBox="1"/>
          <p:nvPr/>
        </p:nvSpPr>
        <p:spPr>
          <a:xfrm>
            <a:off x="67665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Pattern text 2"/>
          <p:cNvSpPr txBox="1"/>
          <p:nvPr/>
        </p:nvSpPr>
        <p:spPr>
          <a:xfrm>
            <a:off x="7406640" y="3081528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A prior ER visit adds risk: 25.8% vs 20.6%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Flagged discharges with 1+ emergency visit in the prior year (n = 3,760) vs none.</a:t>
            </a:r>
            <a:endParaRPr lang="en-US" sz="1600" dirty="0"/>
          </a:p>
        </p:txBody>
      </p:sp>
      <p:sp>
        <p:nvSpPr>
          <p:cNvPr id="13" name="Pattern card 3"/>
          <p:cNvSpPr/>
          <p:nvPr/>
        </p:nvSpPr>
        <p:spPr>
          <a:xfrm>
            <a:off x="6583680" y="4389120"/>
            <a:ext cx="502920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4" name="Pattern badge 3"/>
          <p:cNvSpPr/>
          <p:nvPr/>
        </p:nvSpPr>
        <p:spPr>
          <a:xfrm>
            <a:off x="6766560" y="45720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Pattern num 3"/>
          <p:cNvSpPr txBox="1"/>
          <p:nvPr/>
        </p:nvSpPr>
        <p:spPr>
          <a:xfrm>
            <a:off x="676656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Pattern text 3"/>
          <p:cNvSpPr txBox="1"/>
          <p:nvPr/>
        </p:nvSpPr>
        <p:spPr>
          <a:xfrm>
            <a:off x="7406640" y="4498848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The stay itself does not separate them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Home 21.3% vs facility 22.5%; medication change 22.0% vs 22.0%. Flag on history; cover every discharge type.</a:t>
            </a:r>
            <a:endParaRPr lang="en-US" sz="1600" dirty="0"/>
          </a:p>
        </p:txBody>
      </p:sp>
      <p:sp>
        <p:nvSpPr>
          <p:cNvPr id="17" name="Baseline note"/>
          <p:cNvSpPr txBox="1"/>
          <p:nvPr/>
        </p:nvSpPr>
        <p:spPr>
          <a:xfrm>
            <a:off x="6583680" y="5760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Readmission rate in the flagged group is 22.0% (95% CI 21.3–22.7%) vs 9.6% elsewhere: 2.3 times higher.</a:t>
            </a:r>
            <a:endParaRPr lang="en-US" sz="1400" dirty="0"/>
          </a:p>
        </p:txBody>
      </p:sp>
      <p:sp>
        <p:nvSpPr>
          <p:cNvPr id="18" name="Source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Break-even needs flagged-patient readmissions to fall 8–15%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554480"/>
          <a:ext cx="594360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Break-even tile 1"/>
          <p:cNvSpPr/>
          <p:nvPr/>
        </p:nvSpPr>
        <p:spPr>
          <a:xfrm>
            <a:off x="6766560" y="1554480"/>
            <a:ext cx="484632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5" name="Break-even value 1"/>
          <p:cNvSpPr txBox="1"/>
          <p:nvPr/>
        </p:nvSpPr>
        <p:spPr>
          <a:xfrm>
            <a:off x="6949440" y="1554480"/>
            <a:ext cx="14630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7.6%</a:t>
            </a:r>
            <a:endParaRPr lang="en-US" sz="3200" dirty="0"/>
          </a:p>
        </p:txBody>
      </p:sp>
      <p:sp>
        <p:nvSpPr>
          <p:cNvPr id="6" name="Break-even label 1"/>
          <p:cNvSpPr txBox="1"/>
          <p:nvPr/>
        </p:nvSpPr>
        <p:spPr>
          <a:xfrm>
            <a:off x="8458200" y="1554480"/>
            <a:ext cx="3017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break-even reduction if the hospital keeps all of the saving</a:t>
            </a:r>
            <a:endParaRPr lang="en-US" sz="1400" dirty="0"/>
          </a:p>
        </p:txBody>
      </p:sp>
      <p:sp>
        <p:nvSpPr>
          <p:cNvPr id="7" name="Break-even tile 2"/>
          <p:cNvSpPr/>
          <p:nvPr/>
        </p:nvSpPr>
        <p:spPr>
          <a:xfrm>
            <a:off x="6766560" y="2651760"/>
            <a:ext cx="484632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8" name="Break-even value 2"/>
          <p:cNvSpPr txBox="1"/>
          <p:nvPr/>
        </p:nvSpPr>
        <p:spPr>
          <a:xfrm>
            <a:off x="6949440" y="2651760"/>
            <a:ext cx="14630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15.1%</a:t>
            </a:r>
            <a:endParaRPr lang="en-US" sz="3200" dirty="0"/>
          </a:p>
        </p:txBody>
      </p:sp>
      <p:sp>
        <p:nvSpPr>
          <p:cNvPr id="9" name="Break-even label 2"/>
          <p:cNvSpPr txBox="1"/>
          <p:nvPr/>
        </p:nvSpPr>
        <p:spPr>
          <a:xfrm>
            <a:off x="8458200" y="2651760"/>
            <a:ext cx="3017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break-even if it keeps half (e.g. mixed payers)</a:t>
            </a:r>
            <a:endParaRPr lang="en-US" sz="1400" dirty="0"/>
          </a:p>
        </p:txBody>
      </p:sp>
      <p:sp>
        <p:nvSpPr>
          <p:cNvPr id="10" name="Break-even tile 3"/>
          <p:cNvSpPr/>
          <p:nvPr/>
        </p:nvSpPr>
        <p:spPr>
          <a:xfrm>
            <a:off x="6766560" y="3749040"/>
            <a:ext cx="484632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11" name="Break-even value 3"/>
          <p:cNvSpPr txBox="1"/>
          <p:nvPr/>
        </p:nvSpPr>
        <p:spPr>
          <a:xfrm>
            <a:off x="6949440" y="3749040"/>
            <a:ext cx="14630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14.6%</a:t>
            </a:r>
            <a:endParaRPr lang="en-US" sz="3200" dirty="0"/>
          </a:p>
        </p:txBody>
      </p:sp>
      <p:sp>
        <p:nvSpPr>
          <p:cNvPr id="12" name="Break-even label 3"/>
          <p:cNvSpPr txBox="1"/>
          <p:nvPr/>
        </p:nvSpPr>
        <p:spPr>
          <a:xfrm>
            <a:off x="8458200" y="3749040"/>
            <a:ext cx="3017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break-even if applied to every discharge, not just the flagged group</a:t>
            </a:r>
            <a:endParaRPr lang="en-US" sz="1400" dirty="0"/>
          </a:p>
        </p:txBody>
      </p:sp>
      <p:sp>
        <p:nvSpPr>
          <p:cNvPr id="13" name="Chain box 1"/>
          <p:cNvSpPr/>
          <p:nvPr/>
        </p:nvSpPr>
        <p:spPr>
          <a:xfrm>
            <a:off x="548640" y="4937760"/>
            <a:ext cx="2606040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/>
        </p:spPr>
      </p:sp>
      <p:sp>
        <p:nvSpPr>
          <p:cNvPr id="14" name="Chain value 1"/>
          <p:cNvSpPr txBox="1"/>
          <p:nvPr/>
        </p:nvSpPr>
        <p:spPr>
          <a:xfrm>
            <a:off x="685800" y="4983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1,421</a:t>
            </a:r>
            <a:endParaRPr lang="en-US" sz="2400" dirty="0"/>
          </a:p>
        </p:txBody>
      </p:sp>
      <p:sp>
        <p:nvSpPr>
          <p:cNvPr id="15" name="Chain label 1"/>
          <p:cNvSpPr txBox="1"/>
          <p:nvPr/>
        </p:nvSpPr>
        <p:spPr>
          <a:xfrm>
            <a:off x="685800" y="54406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flagged discharges per 10,000</a:t>
            </a:r>
            <a:endParaRPr lang="en-US" sz="1200" dirty="0"/>
          </a:p>
        </p:txBody>
      </p:sp>
      <p:sp>
        <p:nvSpPr>
          <p:cNvPr id="16" name="Chain box 2"/>
          <p:cNvSpPr/>
          <p:nvPr/>
        </p:nvSpPr>
        <p:spPr>
          <a:xfrm>
            <a:off x="3355848" y="4937760"/>
            <a:ext cx="2606040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/>
        </p:spPr>
      </p:sp>
      <p:sp>
        <p:nvSpPr>
          <p:cNvPr id="17" name="Chain value 2"/>
          <p:cNvSpPr txBox="1"/>
          <p:nvPr/>
        </p:nvSpPr>
        <p:spPr>
          <a:xfrm>
            <a:off x="3493008" y="4983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313</a:t>
            </a:r>
            <a:endParaRPr lang="en-US" sz="2400" dirty="0"/>
          </a:p>
        </p:txBody>
      </p:sp>
      <p:sp>
        <p:nvSpPr>
          <p:cNvPr id="18" name="Chain label 2"/>
          <p:cNvSpPr txBox="1"/>
          <p:nvPr/>
        </p:nvSpPr>
        <p:spPr>
          <a:xfrm>
            <a:off x="3493008" y="54406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readmissions in that group (22.0%)</a:t>
            </a:r>
            <a:endParaRPr lang="en-US" sz="1200" dirty="0"/>
          </a:p>
        </p:txBody>
      </p:sp>
      <p:sp>
        <p:nvSpPr>
          <p:cNvPr id="19" name="Chain box 3"/>
          <p:cNvSpPr/>
          <p:nvPr/>
        </p:nvSpPr>
        <p:spPr>
          <a:xfrm>
            <a:off x="6163056" y="4937760"/>
            <a:ext cx="2606040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/>
        </p:spPr>
      </p:sp>
      <p:sp>
        <p:nvSpPr>
          <p:cNvPr id="20" name="Chain value 3"/>
          <p:cNvSpPr txBox="1"/>
          <p:nvPr/>
        </p:nvSpPr>
        <p:spPr>
          <a:xfrm>
            <a:off x="6300216" y="4983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2400" dirty="0"/>
          </a:p>
        </p:txBody>
      </p:sp>
      <p:sp>
        <p:nvSpPr>
          <p:cNvPr id="21" name="Chain label 3"/>
          <p:cNvSpPr txBox="1"/>
          <p:nvPr/>
        </p:nvSpPr>
        <p:spPr>
          <a:xfrm>
            <a:off x="6300216" y="54406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avoided at a 10% reduction</a:t>
            </a:r>
            <a:endParaRPr lang="en-US" sz="1200" dirty="0"/>
          </a:p>
        </p:txBody>
      </p:sp>
      <p:sp>
        <p:nvSpPr>
          <p:cNvPr id="22" name="Chain box 4"/>
          <p:cNvSpPr/>
          <p:nvPr/>
        </p:nvSpPr>
        <p:spPr>
          <a:xfrm>
            <a:off x="8970264" y="4937760"/>
            <a:ext cx="2606040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/>
        </p:spPr>
      </p:sp>
      <p:sp>
        <p:nvSpPr>
          <p:cNvPr id="23" name="Chain value 4"/>
          <p:cNvSpPr txBox="1"/>
          <p:nvPr/>
        </p:nvSpPr>
        <p:spPr>
          <a:xfrm>
            <a:off x="9107424" y="4983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$470k vs $355k</a:t>
            </a:r>
            <a:endParaRPr lang="en-US" sz="2000" dirty="0"/>
          </a:p>
        </p:txBody>
      </p:sp>
      <p:sp>
        <p:nvSpPr>
          <p:cNvPr id="24" name="Chain label 4"/>
          <p:cNvSpPr txBox="1"/>
          <p:nvPr/>
        </p:nvSpPr>
        <p:spPr>
          <a:xfrm>
            <a:off x="9107424" y="54406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value vs program cost: net +$114k</a:t>
            </a:r>
            <a:endParaRPr lang="en-US" sz="1200" dirty="0"/>
          </a:p>
        </p:txBody>
      </p:sp>
      <p:sp>
        <p:nvSpPr>
          <p:cNvPr id="25" name="Assumption strip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6" name="Source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/>
              <a:t>Process Steps</a:t>
            </a:r>
          </a:p>
        </p:txBody>
      </p:sp>
      <p:sp>
        <p:nvSpPr>
          <p:cNvPr id="3" name="Ladder label"/>
          <p:cNvSpPr txBox="1"/>
          <p:nvPr/>
        </p:nvSpPr>
        <p:spPr>
          <a:xfrm>
            <a:off x="548640" y="1508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Rung Process"/>
          <p:cNvSpPr/>
          <p:nvPr/>
        </p:nvSpPr>
        <p:spPr>
          <a:xfrm>
            <a:off x="548640" y="1828800"/>
            <a:ext cx="173736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" name="Rung text Process"/>
          <p:cNvSpPr txBox="1"/>
          <p:nvPr/>
        </p:nvSpPr>
        <p:spPr>
          <a:xfrm>
            <a:off x="548640" y="18288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Process</a:t>
            </a:r>
            <a:endParaRPr lang="en-US" sz="1600" dirty="0"/>
          </a:p>
        </p:txBody>
      </p:sp>
      <p:sp>
        <p:nvSpPr>
          <p:cNvPr id="6" name="Rung Rules"/>
          <p:cNvSpPr/>
          <p:nvPr/>
        </p:nvSpPr>
        <p:spPr>
          <a:xfrm>
            <a:off x="2414016" y="1828800"/>
            <a:ext cx="173736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7" name="Rung text Rules"/>
          <p:cNvSpPr txBox="1"/>
          <p:nvPr/>
        </p:nvSpPr>
        <p:spPr>
          <a:xfrm>
            <a:off x="2414016" y="18288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Rules</a:t>
            </a:r>
            <a:endParaRPr lang="en-US" sz="1600" dirty="0"/>
          </a:p>
        </p:txBody>
      </p:sp>
      <p:sp>
        <p:nvSpPr>
          <p:cNvPr id="8" name="Rung Analytics"/>
          <p:cNvSpPr/>
          <p:nvPr/>
        </p:nvSpPr>
        <p:spPr>
          <a:xfrm>
            <a:off x="4279392" y="1828800"/>
            <a:ext cx="173736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9" name="Rung text Analytics"/>
          <p:cNvSpPr txBox="1"/>
          <p:nvPr/>
        </p:nvSpPr>
        <p:spPr>
          <a:xfrm>
            <a:off x="4279392" y="18288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Analytics</a:t>
            </a:r>
            <a:endParaRPr lang="en-US" sz="1600" dirty="0"/>
          </a:p>
        </p:txBody>
      </p:sp>
      <p:sp>
        <p:nvSpPr>
          <p:cNvPr id="10" name="Rung ML"/>
          <p:cNvSpPr/>
          <p:nvPr/>
        </p:nvSpPr>
        <p:spPr>
          <a:xfrm>
            <a:off x="6144768" y="1828800"/>
            <a:ext cx="173736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1" name="Rung text ML"/>
          <p:cNvSpPr txBox="1"/>
          <p:nvPr/>
        </p:nvSpPr>
        <p:spPr>
          <a:xfrm>
            <a:off x="6144768" y="18288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ML</a:t>
            </a:r>
            <a:endParaRPr lang="en-US" sz="1600" dirty="0"/>
          </a:p>
        </p:txBody>
      </p:sp>
      <p:sp>
        <p:nvSpPr>
          <p:cNvPr id="12" name="Rung GenAI"/>
          <p:cNvSpPr/>
          <p:nvPr/>
        </p:nvSpPr>
        <p:spPr>
          <a:xfrm>
            <a:off x="8010144" y="1828800"/>
            <a:ext cx="173736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3" name="Rung text GenAI"/>
          <p:cNvSpPr txBox="1"/>
          <p:nvPr/>
        </p:nvSpPr>
        <p:spPr>
          <a:xfrm>
            <a:off x="8010144" y="18288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</a:rPr>
              <a:t>GenAI</a:t>
            </a:r>
            <a:endParaRPr lang="en-US" sz="1600" dirty="0"/>
          </a:p>
        </p:txBody>
      </p:sp>
      <p:sp>
        <p:nvSpPr>
          <p:cNvPr id="14" name="Rung Agentic AI"/>
          <p:cNvSpPr/>
          <p:nvPr/>
        </p:nvSpPr>
        <p:spPr>
          <a:xfrm>
            <a:off x="9875520" y="1828800"/>
            <a:ext cx="173736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5" name="Rung text Agentic AI"/>
          <p:cNvSpPr txBox="1"/>
          <p:nvPr/>
        </p:nvSpPr>
        <p:spPr>
          <a:xfrm>
            <a:off x="9875520" y="18288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Agentic AI</a:t>
            </a:r>
            <a:endParaRPr lang="en-US" sz="1600" dirty="0"/>
          </a:p>
        </p:txBody>
      </p:sp>
      <p:sp>
        <p:nvSpPr>
          <p:cNvPr id="16" name="Do card"/>
          <p:cNvSpPr/>
          <p:nvPr/>
        </p:nvSpPr>
        <p:spPr>
          <a:xfrm>
            <a:off x="548640" y="2743200"/>
            <a:ext cx="548640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17" name="Do label"/>
          <p:cNvSpPr txBox="1"/>
          <p:nvPr/>
        </p:nvSpPr>
        <p:spPr>
          <a:xfrm>
            <a:off x="822960" y="2880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WHAT WE RUN (PROCESS + RULE)</a:t>
            </a:r>
            <a:endParaRPr lang="en-US" sz="1200" dirty="0"/>
          </a:p>
        </p:txBody>
      </p:sp>
      <p:sp>
        <p:nvSpPr>
          <p:cNvPr id="18" name="Do steps"/>
          <p:cNvSpPr txBox="1"/>
          <p:nvPr/>
        </p:nvSpPr>
        <p:spPr>
          <a:xfrm>
            <a:off x="822960" y="320040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Flag: </a:t>
            </a:r>
            <a:r>
              <a:rPr lang="en-US" sz="1500" dirty="0">
                <a:solidFill>
                  <a:schemeClr val="tx2"/>
                </a:solidFill>
              </a:rPr>
              <a:t>EHR rule at discharge, 2+ inpatient stays in the prior 12 months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Call: </a:t>
            </a:r>
            <a:r>
              <a:rPr lang="en-US" sz="1500" dirty="0">
                <a:solidFill>
                  <a:schemeClr val="tx2"/>
                </a:solidFill>
              </a:rPr>
              <a:t>nurse calls within 48 hours (symptoms, medicines, glucose plan)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Visit: </a:t>
            </a:r>
            <a:r>
              <a:rPr lang="en-US" sz="1500" dirty="0">
                <a:solidFill>
                  <a:schemeClr val="tx2"/>
                </a:solidFill>
              </a:rPr>
              <a:t>follow-up booked within 7 days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Priority: </a:t>
            </a:r>
            <a:r>
              <a:rPr lang="en-US" sz="1500" dirty="0">
                <a:solidFill>
                  <a:schemeClr val="tx2"/>
                </a:solidFill>
              </a:rPr>
              <a:t>diabetes as primary diagnosis, or a prior ER visit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Owners: </a:t>
            </a:r>
            <a:r>
              <a:rPr lang="en-US" sz="1500" dirty="0">
                <a:solidFill>
                  <a:schemeClr val="tx2"/>
                </a:solidFill>
              </a:rPr>
              <a:t>Clinical Ops runs it, COO staffs it, CFO tracks cost per flagged discharge</a:t>
            </a:r>
            <a:endParaRPr lang="en-US" sz="1500" dirty="0"/>
          </a:p>
        </p:txBody>
      </p:sp>
      <p:sp>
        <p:nvSpPr>
          <p:cNvPr id="19" name="Why card"/>
          <p:cNvSpPr/>
          <p:nvPr/>
        </p:nvSpPr>
        <p:spPr>
          <a:xfrm>
            <a:off x="6217920" y="2743200"/>
            <a:ext cx="5394960" cy="3017520"/>
          </a:xfrm>
          <a:prstGeom prst="roundRect">
            <a:avLst>
              <a:gd name="adj" fmla="val 2424"/>
            </a:avLst>
          </a:prstGeom>
          <a:solidFill>
            <a:schemeClr val="tx2"/>
          </a:solidFill>
          <a:ln/>
        </p:spPr>
      </p:sp>
      <p:sp>
        <p:nvSpPr>
          <p:cNvPr id="20" name="Why label"/>
          <p:cNvSpPr txBox="1"/>
          <p:nvPr/>
        </p:nvSpPr>
        <p:spPr>
          <a:xfrm>
            <a:off x="6492240" y="2880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WHY NOT HIGHER RUNGS YET</a:t>
            </a:r>
            <a:endParaRPr lang="en-US" sz="1200" dirty="0"/>
          </a:p>
        </p:txBody>
      </p:sp>
      <p:sp>
        <p:nvSpPr>
          <p:cNvPr id="21" name="Why text"/>
          <p:cNvSpPr txBox="1"/>
          <p:nvPr/>
        </p:nvSpPr>
        <p:spPr>
          <a:xfrm>
            <a:off x="6492240" y="320040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ML: one field already isolates 27.5% of readmissions; a model would learn from 1999–2008 data with unknown preventability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GenAI, agentic: no workflow gap in this data that they would fix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Climb only if the pilot shows an effect, flagged volume exceeds staff capacity, and a ranking beats the rule on held-out discharges</a:t>
            </a:r>
            <a:endParaRPr lang="en-US" sz="1500" dirty="0"/>
          </a:p>
        </p:txBody>
      </p:sp>
      <p:sp>
        <p:nvSpPr>
          <p:cNvPr id="22" name="Source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One fact, three assumptions, two hypotheses: validate before building</a:t>
            </a:r>
            <a:endParaRPr lang="en-US" sz="2800" dirty="0"/>
          </a:p>
        </p:txBody>
      </p:sp>
      <p:graphicFrame>
        <p:nvGraphicFramePr>
          <p:cNvPr id="6" name="Claim ledge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0034501"/>
              </p:ext>
            </p:extLst>
          </p:nvPr>
        </p:nvGraphicFramePr>
        <p:xfrm>
          <a:off x="548640" y="1508760"/>
          <a:ext cx="11064240" cy="3840480"/>
        </p:xfrm>
        <a:graphic>
          <a:graphicData uri="http://schemas.openxmlformats.org/drawingml/2006/table">
            <a:tbl>
              <a:tblPr/>
              <a:tblGrid>
                <a:gridCol w="448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Claim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How we validate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Owner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Flagged group: 14.2% of discharges, 27.5% of readmissions, 22.0% rate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Fact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Recompute from the CSV 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Analyst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The flag is available in the live EHR at discharge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Assumption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IT query on 3 months of discharges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IT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A readmission costs about $15k ($10–20k)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Assumption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Finance pulls actual cost per stay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CFO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The program costs about $250 per flagged discharge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Assumption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4-week nurse time study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COO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The program cuts readmissions by 8–15% or more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Hypothesis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Controlled pilot: ~2,300 flagged discharges per arm detects a 15% cut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Ops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The hospital keeps the saving, not lost visit revenue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Hypothesis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Payer-mix review of the flagged group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CFO</a:t>
                      </a:r>
                      <a:endParaRPr lang="en-US" sz="14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Gate strip"/>
          <p:cNvSpPr/>
          <p:nvPr/>
        </p:nvSpPr>
        <p:spPr>
          <a:xfrm>
            <a:off x="548640" y="5486400"/>
            <a:ext cx="1106424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5" name="Gate text"/>
          <p:cNvSpPr txBox="1"/>
          <p:nvPr/>
        </p:nvSpPr>
        <p:spPr>
          <a:xfrm>
            <a:off x="777240" y="5486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Scale only if the measured reduction beats break-even at the measured cost per flagged discharge. Otherwise stop.</a:t>
            </a:r>
            <a:endParaRPr lang="en-US" sz="1400" dirty="0"/>
          </a:p>
        </p:txBody>
      </p:sp>
      <p:sp>
        <p:nvSpPr>
          <p:cNvPr id="3" name="Source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admission Decision">
  <a:themeElements>
    <a:clrScheme name="Readmission Decision">
      <a:dk1>
        <a:srgbClr val="1E2B3A"/>
      </a:dk1>
      <a:lt1>
        <a:srgbClr val="FFFFFF"/>
      </a:lt1>
      <a:dk2>
        <a:srgbClr val="2A3B4F"/>
      </a:dk2>
      <a:lt2>
        <a:srgbClr val="EAF5F0"/>
      </a:lt2>
      <a:accent1>
        <a:srgbClr val="2E8B5B"/>
      </a:accent1>
      <a:accent2>
        <a:srgbClr val="2A3B4F"/>
      </a:accent2>
      <a:accent3>
        <a:srgbClr val="B7791F"/>
      </a:accent3>
      <a:accent4>
        <a:srgbClr val="6B7C8F"/>
      </a:accent4>
      <a:accent5>
        <a:srgbClr val="6FBF9A"/>
      </a:accent5>
      <a:accent6>
        <a:srgbClr val="D9E2EA"/>
      </a:accent6>
      <a:hlink>
        <a:srgbClr val="2E8B5B"/>
      </a:hlink>
      <a:folHlink>
        <a:srgbClr val="6B7C8F"/>
      </a:folHlink>
    </a:clrScheme>
    <a:fontScheme name="Readmission Decis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1283</Words>
  <Application>Microsoft Office PowerPoint</Application>
  <PresentationFormat>Widescreen</PresentationFormat>
  <Paragraphs>105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Readmission Decision</vt:lpstr>
      <vt:lpstr>Assignment: Kaggle Dataset</vt:lpstr>
      <vt:lpstr>Repeat inpatients are 14% of discharges but 27% of readmissions</vt:lpstr>
      <vt:lpstr>Break-even needs flagged-patient readmissions to fall 8–15%</vt:lpstr>
      <vt:lpstr>Process Steps</vt:lpstr>
      <vt:lpstr>One fact, three assumptions, two hypotheses: validate before building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Diabetes readmissions: decision deck</dc:title>
  <dc:subject>PptxGenJS Presentation</dc:subject>
  <dc:creator>PptxGenJS</dc:creator>
  <cp:lastModifiedBy>Kaushik Sudhir</cp:lastModifiedBy>
  <cp:revision>8</cp:revision>
  <dcterms:created xsi:type="dcterms:W3CDTF">2026-10-09T15:48:37Z</dcterms:created>
  <dcterms:modified xsi:type="dcterms:W3CDTF">2026-10-09T16:02:35Z</dcterms:modified>
</cp:coreProperties>
</file>